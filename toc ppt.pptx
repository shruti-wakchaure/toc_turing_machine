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8" r:id="rId3"/>
    <p:sldId id="274" r:id="rId4"/>
    <p:sldId id="275" r:id="rId5"/>
    <p:sldId id="276" r:id="rId6"/>
    <p:sldId id="259" r:id="rId7"/>
    <p:sldId id="277" r:id="rId8"/>
    <p:sldId id="260" r:id="rId9"/>
    <p:sldId id="262" r:id="rId10"/>
    <p:sldId id="278" r:id="rId11"/>
    <p:sldId id="270" r:id="rId12"/>
    <p:sldId id="271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5" d="100"/>
          <a:sy n="115" d="100"/>
        </p:scale>
        <p:origin x="-437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619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8538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382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9616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6699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4177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NJIVANI_TEAL_MASTER">
  <p:cSld name="SANJIVANI_TEAL_MASTER">
    <p:bg>
      <p:bgPr>
        <a:solidFill>
          <a:srgbClr val="FFFFFF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4869178"/>
            <a:ext cx="9144000" cy="274321"/>
          </a:xfrm>
          <a:prstGeom prst="rect">
            <a:avLst/>
          </a:prstGeom>
          <a:solidFill>
            <a:srgbClr val="006E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2"/>
          <p:cNvSpPr/>
          <p:nvPr/>
        </p:nvSpPr>
        <p:spPr>
          <a:xfrm>
            <a:off x="164592" y="4939048"/>
            <a:ext cx="8206666" cy="167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2DFE6"/>
                </a:solidFill>
                <a:latin typeface="Calibri"/>
                <a:ea typeface="Calibri"/>
                <a:cs typeface="Calibri"/>
                <a:sym typeface="Calibri"/>
              </a:rPr>
              <a:t>SANJIVANI UNIVERSITY  |  Online Education Division       I Course Name                                                Programme Name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365760" y="1371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365760" y="1005840"/>
            <a:ext cx="84124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83309" y="4888495"/>
            <a:ext cx="548640" cy="22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6858"/>
            <a:ext cx="9144000" cy="882396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06E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0" y="891540"/>
            <a:ext cx="9144000" cy="64008"/>
          </a:xfrm>
          <a:prstGeom prst="rect">
            <a:avLst/>
          </a:prstGeom>
          <a:solidFill>
            <a:srgbClr val="F7A600"/>
          </a:solidFill>
          <a:ln w="12700" cap="flat" cmpd="sng">
            <a:solidFill>
              <a:srgbClr val="F7A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6053328" y="301752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-10246" y="4865912"/>
            <a:ext cx="9144000" cy="2823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06E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172634" y="4890036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www.sanjivanicoe.org.in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67928" y="4915638"/>
            <a:ext cx="393192" cy="182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900" b="0" u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1125997" y="2125494"/>
            <a:ext cx="6622107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Token Verification using Turing Machine</a:t>
            </a:r>
            <a:endParaRPr lang="en-US" sz="2600" b="1" u="sng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688521" y="3197178"/>
            <a:ext cx="5622107" cy="12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i="1" dirty="0">
                <a:solidFill>
                  <a:schemeClr val="dk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Submitted By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chemeClr val="dk2"/>
              </a:buClr>
              <a:buSzPts val="1600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Riya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Dhakane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Payal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Aragade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chemeClr val="dk2"/>
              </a:buClr>
              <a:buSzPts val="1600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 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Shruti Wakchaure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Chanchal Shinde</a:t>
            </a:r>
          </a:p>
          <a:p>
            <a:pPr lvl="0" algn="ctr">
              <a:buClr>
                <a:schemeClr val="dk2"/>
              </a:buClr>
              <a:buSzPts val="1600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Clr>
                <a:schemeClr val="dk2"/>
              </a:buClr>
              <a:buSzPts val="1600"/>
            </a:pPr>
            <a:r>
              <a:rPr lang="en-US" sz="1400" i="1" dirty="0">
                <a:solidFill>
                  <a:schemeClr val="dk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Under the Guidance of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dk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Prof. </a:t>
            </a:r>
            <a:r>
              <a:rPr lang="en-US" sz="1600" b="1" dirty="0" err="1">
                <a:solidFill>
                  <a:schemeClr val="dk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N.G.Pardeshi</a:t>
            </a:r>
            <a:r>
              <a:rPr lang="en-US" sz="1600" b="1" dirty="0">
                <a:solidFill>
                  <a:schemeClr val="dk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chemeClr val="dk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Associate Professor</a:t>
            </a:r>
          </a:p>
        </p:txBody>
      </p:sp>
      <p:sp>
        <p:nvSpPr>
          <p:cNvPr id="26" name="Google Shape;26;p4"/>
          <p:cNvSpPr/>
          <p:nvPr/>
        </p:nvSpPr>
        <p:spPr>
          <a:xfrm>
            <a:off x="-10246" y="4852371"/>
            <a:ext cx="9144000" cy="25603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1188720" y="-767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 College of Engineering, Kopargaon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371600" y="441239"/>
            <a:ext cx="5943600" cy="4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B2DFE6"/>
                </a:solidFill>
                <a:latin typeface="Calibri"/>
                <a:ea typeface="Calibri"/>
                <a:cs typeface="Calibri"/>
                <a:sym typeface="Calibri"/>
              </a:rPr>
              <a:t>           (An Autonomous Institute, Affiliated to SPPU, Pune)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B2DFE6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Engineering, NBA Tier-1 Accredited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4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634" y="6858"/>
            <a:ext cx="713970" cy="89711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933855" y="1089279"/>
            <a:ext cx="7258131" cy="505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6E7F"/>
              </a:buClr>
              <a:buSzPts val="2400"/>
              <a:buFont typeface="Calibri"/>
              <a:buNone/>
            </a:pPr>
            <a:r>
              <a:rPr lang="en-US" sz="2400" b="1" dirty="0">
                <a:solidFill>
                  <a:srgbClr val="006E7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TOC CIA (Case Study) Activity Presentation</a:t>
            </a:r>
            <a:endParaRPr sz="2400" b="1" dirty="0">
              <a:solidFill>
                <a:srgbClr val="006E7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01444" y="1718106"/>
            <a:ext cx="8482361" cy="28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T.Y. </a:t>
            </a:r>
            <a:r>
              <a:rPr lang="en-US" sz="2400" i="1" dirty="0" err="1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B.Tech</a:t>
            </a:r>
            <a:r>
              <a:rPr lang="en-US" sz="2400" i="1" dirty="0">
                <a:solidFill>
                  <a:srgbClr val="C55A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Computer Engineering | AY [ 2026–2027 ] | Div-A</a:t>
            </a:r>
            <a:endParaRPr sz="2400" dirty="0">
              <a:solidFill>
                <a:srgbClr val="C55A1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63920" y="11554"/>
            <a:ext cx="894291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2700"/>
              <a:buFont typeface="Calibri"/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Introduction 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D0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51957" y="841248"/>
            <a:ext cx="5043003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Introduction -</a:t>
            </a: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65760" y="1048848"/>
            <a:ext cx="8499735" cy="336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6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7714E31-EAD8-D29B-779C-211EFB38B51D}"/>
              </a:ext>
            </a:extLst>
          </p:cNvPr>
          <p:cNvSpPr txBox="1"/>
          <p:nvPr/>
        </p:nvSpPr>
        <p:spPr>
          <a:xfrm>
            <a:off x="351957" y="1163592"/>
            <a:ext cx="865488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programming languages,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first phase of a compiler that identifies and validates tokens such as identifiers, keywords, operators, and literals.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name used for variables, functions, classes, and other program elements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case study,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verify whether a given programming-language identifier follows predefined lexical rules</a:t>
            </a:r>
            <a:r>
              <a:rPr lang="en-IN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machine scans the input symbol by symbol and determines whether the identifier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or invalid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“A valid identifier is the first step toward correctly understanding program code”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searching only for exact words, the system can recognize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phone numbers, email addresses, and other structured text — and safely replace them across multiple files.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365759" y="80586"/>
            <a:ext cx="853291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2700"/>
              <a:buFont typeface="Calibri"/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Problem </a:t>
            </a:r>
            <a:r>
              <a:rPr lang="en-US" sz="28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Defination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D0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1059" y="796442"/>
            <a:ext cx="8711333" cy="3939235"/>
          </a:xfrm>
          <a:prstGeom prst="rect">
            <a:avLst/>
          </a:prstGeom>
          <a:solidFill>
            <a:srgbClr val="F7F8FC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SMART Objectives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80255" y="988325"/>
            <a:ext cx="8503920" cy="3574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Machine-based Compiler Token Verification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validates programming language identifiers according to specified lexical rules.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identifier must: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with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or underscore (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only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letters, digits, or underscores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the first character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contain spaces or special characters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accepted if all characters satisfy the rules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rejected if any character violates the rules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simulator should scan the input token and display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by the Turing Machine.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| 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8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2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365759" y="80586"/>
            <a:ext cx="853291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2700"/>
              <a:buFont typeface="Calibri"/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Objectives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D0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1059" y="796442"/>
            <a:ext cx="8711333" cy="3939235"/>
          </a:xfrm>
          <a:prstGeom prst="rect">
            <a:avLst/>
          </a:prstGeom>
          <a:solidFill>
            <a:srgbClr val="F7F8FC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SMART Objectives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80255" y="988325"/>
            <a:ext cx="8503920" cy="3574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identifier validation.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whether the first character is a letter or underscore.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subsequent characters of the identifier.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reject identifiers containing invalid or special characters.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state-by-state transitions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machine.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clear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Accept/Reject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practical application of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Machines in compiler design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understanding of lexical token validation using Theory of Computation. 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| 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8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977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365759" y="80586"/>
            <a:ext cx="853291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2700"/>
              <a:buFont typeface="Calibri"/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Proposed System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D0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1059" y="796442"/>
            <a:ext cx="8711333" cy="3939235"/>
          </a:xfrm>
          <a:prstGeom prst="rect">
            <a:avLst/>
          </a:prstGeom>
          <a:solidFill>
            <a:srgbClr val="F7F8FC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SMART Objectives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80255" y="988325"/>
            <a:ext cx="8503920" cy="3574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50000"/>
              </a:lnSpc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| 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8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33" y="796442"/>
            <a:ext cx="6981934" cy="389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4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365760" y="73152"/>
            <a:ext cx="863699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2700"/>
              <a:buFont typeface="Calibri"/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Technology Stack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7457564" y="4551928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D0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65759" y="841248"/>
            <a:ext cx="8636991" cy="3703320"/>
          </a:xfrm>
          <a:prstGeom prst="rect">
            <a:avLst/>
          </a:prstGeom>
          <a:solidFill>
            <a:srgbClr val="F7F8FC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Problem Definition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02919" y="884180"/>
            <a:ext cx="8410621" cy="3523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1F3C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Technology Stack –</a:t>
            </a:r>
          </a:p>
          <a:p>
            <a:pPr algn="just"/>
            <a:endParaRPr lang="en-US" sz="2000" b="1" dirty="0">
              <a:solidFill>
                <a:srgbClr val="0D1F3C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just"/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just"/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| 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7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B908991-2661-B8C2-15D4-83794AC0B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00" y="1338738"/>
            <a:ext cx="607730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development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Graphical User Interface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 Logic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Token validation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 Simulation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 symbol processing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 Module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State movement and transitions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Module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Validation of test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365760" y="73152"/>
            <a:ext cx="863699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2700"/>
              <a:buFont typeface="Calibri"/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Algorithm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7457564" y="4551928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D0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65759" y="848448"/>
            <a:ext cx="8636991" cy="3703320"/>
          </a:xfrm>
          <a:prstGeom prst="rect">
            <a:avLst/>
          </a:prstGeom>
          <a:solidFill>
            <a:srgbClr val="F7F8FC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Problem Definition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02919" y="884180"/>
            <a:ext cx="8410621" cy="3523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D1F3C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Algorithm –</a:t>
            </a:r>
          </a:p>
          <a:p>
            <a:pPr algn="just"/>
            <a:endParaRPr lang="en-US" sz="2000" b="1" dirty="0">
              <a:solidFill>
                <a:srgbClr val="0D1F3C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just"/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just"/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| 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7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43E22AB-619D-8A5F-9094-920AE016A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605" y="827773"/>
            <a:ext cx="6158123" cy="410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7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365759" y="80586"/>
            <a:ext cx="8532913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2700"/>
              <a:buFont typeface="Calibri"/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System Architecture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D0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1059" y="1440726"/>
            <a:ext cx="8711333" cy="2936393"/>
          </a:xfrm>
          <a:prstGeom prst="rect">
            <a:avLst/>
          </a:prstGeom>
          <a:solidFill>
            <a:srgbClr val="F7F8FC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SMART Objectives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80255" y="988325"/>
            <a:ext cx="8503920" cy="3574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50000"/>
              </a:lnSpc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| 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8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A7DD441-6086-EC96-7BFB-C31173B81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508" y="766381"/>
            <a:ext cx="5611446" cy="42032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844658" y="99586"/>
            <a:ext cx="7474152" cy="540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0D1F3C"/>
              </a:buClr>
              <a:buSzPts val="2700"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Output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D0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0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98EFFF5-A000-D5FE-607F-9E5D53F18520}"/>
              </a:ext>
            </a:extLst>
          </p:cNvPr>
          <p:cNvSpPr txBox="1"/>
          <p:nvPr/>
        </p:nvSpPr>
        <p:spPr>
          <a:xfrm>
            <a:off x="120431" y="821741"/>
            <a:ext cx="4018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-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16C33F69-D216-CFCE-5A46-221F5B835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31" y="1307501"/>
            <a:ext cx="916789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programming identifier entered by the user.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Turing Machine's current state and transition for each character.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 Movement: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tape head moving right while scanning the identifier.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Result: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whether each character follows the specified lexical rules.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valid identifier 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844658" y="99586"/>
            <a:ext cx="7474152" cy="540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0D1F3C"/>
              </a:buClr>
              <a:buSzPts val="2700"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Key Features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8046720" y="4722876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D060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0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98EFFF5-A000-D5FE-607F-9E5D53F18520}"/>
              </a:ext>
            </a:extLst>
          </p:cNvPr>
          <p:cNvSpPr txBox="1"/>
          <p:nvPr/>
        </p:nvSpPr>
        <p:spPr>
          <a:xfrm>
            <a:off x="461805" y="905460"/>
            <a:ext cx="4018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-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4F32282-F8CC-A48F-FF41-EA095509FB32}"/>
              </a:ext>
            </a:extLst>
          </p:cNvPr>
          <p:cNvSpPr txBox="1"/>
          <p:nvPr/>
        </p:nvSpPr>
        <p:spPr>
          <a:xfrm>
            <a:off x="844658" y="1360800"/>
            <a:ext cx="49432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Machine-based validation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Character-by-character scanning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First-character validation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Remaining-character validation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Accept/Reject states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 visualization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 head movement display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Invalid-character detection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Easy-to-understand simulator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application of TOC concepts in compiler design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774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"/>
          <p:cNvSpPr/>
          <p:nvPr/>
        </p:nvSpPr>
        <p:spPr>
          <a:xfrm>
            <a:off x="365760" y="73152"/>
            <a:ext cx="85070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0D1F3C"/>
              </a:buClr>
              <a:buSzPts val="2700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7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-1" y="688544"/>
            <a:ext cx="9143999" cy="4754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D1F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0" y="472287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8"/>
          <p:cNvSpPr/>
          <p:nvPr/>
        </p:nvSpPr>
        <p:spPr>
          <a:xfrm>
            <a:off x="585216" y="4796028"/>
            <a:ext cx="16459" cy="274320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365759" y="841248"/>
            <a:ext cx="8644425" cy="3703320"/>
          </a:xfrm>
          <a:prstGeom prst="rect">
            <a:avLst/>
          </a:prstGeom>
          <a:solidFill>
            <a:srgbClr val="F7F8FC"/>
          </a:solidFill>
          <a:ln w="12700" cap="flat" cmpd="sng">
            <a:solidFill>
              <a:srgbClr val="E4E9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8"/>
          <p:cNvSpPr/>
          <p:nvPr/>
        </p:nvSpPr>
        <p:spPr>
          <a:xfrm>
            <a:off x="502920" y="841248"/>
            <a:ext cx="4892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EEE Format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487094" y="982980"/>
            <a:ext cx="8275321" cy="349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–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Token Verification using Turing Machine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Theory of Computation concepts can be applied to compiler design.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Turing Machine scans an identifier character by character and verifies whether it follows the specified lexical rules.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clearly displays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transitions and final Accept/Reject decision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validation process easy to understand.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case study provides a practical understanding of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Turing Machines, transition functions, tape operations, and lexical analysis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658368" y="4722876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</a:t>
            </a: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COE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|  </a:t>
            </a:r>
            <a:r>
              <a:rPr lang="en-US" sz="950" dirty="0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r>
              <a:rPr lang="en-US" sz="950" dirty="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| T.Y. </a:t>
            </a:r>
            <a:r>
              <a:rPr lang="en-US" sz="950" i="1" dirty="0" err="1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950" i="1" dirty="0">
                <a:solidFill>
                  <a:srgbClr val="F0D060"/>
                </a:solidFill>
                <a:latin typeface="Calibri"/>
                <a:ea typeface="Calibri"/>
                <a:cs typeface="Calibri"/>
                <a:sym typeface="Calibri"/>
              </a:rPr>
              <a:t> Computer Engineering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18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431" y="4765403"/>
            <a:ext cx="348574" cy="359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"/>
          <p:cNvSpPr/>
          <p:nvPr/>
        </p:nvSpPr>
        <p:spPr>
          <a:xfrm>
            <a:off x="0" y="6858"/>
            <a:ext cx="9144000" cy="882396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06E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0" y="891540"/>
            <a:ext cx="9144000" cy="64008"/>
          </a:xfrm>
          <a:prstGeom prst="rect">
            <a:avLst/>
          </a:prstGeom>
          <a:solidFill>
            <a:srgbClr val="F7A600"/>
          </a:solidFill>
          <a:ln w="12700" cap="flat" cmpd="sng">
            <a:solidFill>
              <a:srgbClr val="F7A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6053328" y="301752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-10246" y="4865912"/>
            <a:ext cx="9144000" cy="2823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006E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172634" y="4890036"/>
            <a:ext cx="8778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www.sanjivanicoe.org.in</a:t>
            </a:r>
            <a:endParaRPr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 txBox="1">
            <a:spLocks noGrp="1"/>
          </p:cNvSpPr>
          <p:nvPr>
            <p:ph type="sldNum" idx="12"/>
          </p:nvPr>
        </p:nvSpPr>
        <p:spPr>
          <a:xfrm>
            <a:off x="8493674" y="4880964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1326432" y="2234198"/>
            <a:ext cx="647064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60000"/>
              </a:buClr>
              <a:buSzPts val="6000"/>
              <a:buFont typeface="Calibri"/>
              <a:buNone/>
            </a:pPr>
            <a:r>
              <a:rPr lang="en-US" sz="6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Thank You</a:t>
            </a:r>
            <a:endParaRPr sz="60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-10246" y="4847096"/>
            <a:ext cx="9144000" cy="25603"/>
          </a:xfrm>
          <a:prstGeom prst="rect">
            <a:avLst/>
          </a:prstGeom>
          <a:solidFill>
            <a:srgbClr val="D4A017"/>
          </a:solidFill>
          <a:ln w="12700" cap="flat" cmpd="sng">
            <a:solidFill>
              <a:srgbClr val="D4A0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1188720" y="-767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Sanjivani College of Engineering, Kopargaon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1371600" y="441239"/>
            <a:ext cx="5943600" cy="4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B2DFE6"/>
                </a:solidFill>
                <a:latin typeface="Calibri"/>
                <a:ea typeface="Calibri"/>
                <a:cs typeface="Calibri"/>
                <a:sym typeface="Calibri"/>
              </a:rPr>
              <a:t>           (An Autonomous Institute, Affiliated to SPPU, Pune)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2DFE6"/>
              </a:buClr>
              <a:buSzPts val="1800"/>
              <a:buFont typeface="Calibri"/>
              <a:buNone/>
            </a:pPr>
            <a:r>
              <a:rPr lang="en-US" sz="1800" i="1">
                <a:solidFill>
                  <a:srgbClr val="B2DFE6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Engineering, NBA Tier-1 Accredited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19" descr="C:\Users\Icon\Desktop\Reprt 1\CO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634" y="6858"/>
            <a:ext cx="713970" cy="897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743</Words>
  <Application>Microsoft Office PowerPoint</Application>
  <PresentationFormat>On-screen Show (16:9)</PresentationFormat>
  <Paragraphs>121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Vaishanvi Warkar</dc:creator>
  <cp:lastModifiedBy>chanchal</cp:lastModifiedBy>
  <cp:revision>27</cp:revision>
  <dcterms:modified xsi:type="dcterms:W3CDTF">2026-10-05T05:08:18Z</dcterms:modified>
</cp:coreProperties>
</file>